
<file path=[Content_Types].xml><?xml version="1.0" encoding="utf-8"?>
<Types xmlns="http://schemas.openxmlformats.org/package/2006/content-types">
  <Default Extension="2" ContentType="image/unknown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5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hul gupta" initials="rg" lastIdx="1" clrIdx="0">
    <p:extLst>
      <p:ext uri="{19B8F6BF-5375-455C-9EA6-DF929625EA0E}">
        <p15:presenceInfo xmlns:p15="http://schemas.microsoft.com/office/powerpoint/2012/main" userId="967eccc416ff969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608F"/>
    <a:srgbClr val="7165A3"/>
    <a:srgbClr val="A7A6B4"/>
    <a:srgbClr val="595967"/>
    <a:srgbClr val="DC7AB0"/>
    <a:srgbClr val="E32D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4" autoAdjust="0"/>
    <p:restoredTop sz="94702" autoAdjust="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Key Thresholds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0332060238524022"/>
          <c:y val="7.7619718920565295E-2"/>
          <c:w val="0.57219130923203465"/>
          <c:h val="0.72613251914984522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Key Thresholds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5DCD-4F52-96AD-7DE22857D8B7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5DCD-4F52-96AD-7DE22857D8B7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5DCD-4F52-96AD-7DE22857D8B7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5DCD-4F52-96AD-7DE22857D8B7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5DCD-4F52-96AD-7DE22857D8B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bio1 (mean temp) 24-28 ℃</c:v>
                </c:pt>
                <c:pt idx="1">
                  <c:v>bio12(annual precepitation)</c:v>
                </c:pt>
                <c:pt idx="2">
                  <c:v>bio4(temp seasonality)</c:v>
                </c:pt>
                <c:pt idx="3">
                  <c:v>bio15(Precipitation Seasonality)</c:v>
                </c:pt>
                <c:pt idx="4">
                  <c:v>remaining others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34.200000000000003</c:v>
                </c:pt>
                <c:pt idx="1">
                  <c:v>25.8</c:v>
                </c:pt>
                <c:pt idx="2">
                  <c:v>14.5</c:v>
                </c:pt>
                <c:pt idx="3">
                  <c:v>13.5</c:v>
                </c:pt>
                <c:pt idx="4">
                  <c:v>12.2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69-4806-A834-CFF2AD283C27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EE73DF-4CE8-4B8D-8A2C-D56123B7627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8CB320-789F-4C8B-88C6-8DA8C1EED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837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8CB320-789F-4C8B-88C6-8DA8C1EED51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71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75983-2574-4439-BE91-852C4393FA0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5A259-F0E7-49DD-AFDD-B077A39CE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069043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75983-2574-4439-BE91-852C4393FA0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5A259-F0E7-49DD-AFDD-B077A39CE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639107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75983-2574-4439-BE91-852C4393FA0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5A259-F0E7-49DD-AFDD-B077A39CE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029999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75983-2574-4439-BE91-852C4393FA0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5A259-F0E7-49DD-AFDD-B077A39CE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847380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75983-2574-4439-BE91-852C4393FA0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5A259-F0E7-49DD-AFDD-B077A39CE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355080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75983-2574-4439-BE91-852C4393FA0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5A259-F0E7-49DD-AFDD-B077A39CE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714484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75983-2574-4439-BE91-852C4393FA0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5A259-F0E7-49DD-AFDD-B077A39CE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623520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75983-2574-4439-BE91-852C4393FA0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5A259-F0E7-49DD-AFDD-B077A39CE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797946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75983-2574-4439-BE91-852C4393FA0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5A259-F0E7-49DD-AFDD-B077A39CE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703276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75983-2574-4439-BE91-852C4393FA0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5A259-F0E7-49DD-AFDD-B077A39CE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563967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75983-2574-4439-BE91-852C4393FA0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5A259-F0E7-49DD-AFDD-B077A39CE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62240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75983-2574-4439-BE91-852C4393FA08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55A259-F0E7-49DD-AFDD-B077A39CE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951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expansion" TargetMode="External"/><Relationship Id="rId7" Type="http://schemas.openxmlformats.org/officeDocument/2006/relationships/hyperlink" Target="https://openclipart.org/detail/26947" TargetMode="External"/><Relationship Id="rId2" Type="http://schemas.openxmlformats.org/officeDocument/2006/relationships/image" Target="../media/image5.2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hyperlink" Target="https://pixabay.com/ko/%EA%B2%BD%EA%B3%A0-%ED%91%9C%EC%8B%9C-%EB%B9%A8%EA%B0%84%EC%83%89-%EC%82%BC%EA%B0%81%ED%98%95%EC%97%90-%EB%8A%90%EB%82%8C%ED%91%9C%EA%B0%80-%ED%91%9C%EC%8B%9C-%EA%B2%BD%EB%B3%B4-%EA%B2%BD%EA%B3%A0-%EB%A9%94%EC%8B%9C%EC%A7%80-30915/" TargetMode="Externa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350DD-B13A-25AE-3323-E3307D760C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1588" y="284037"/>
            <a:ext cx="5124436" cy="408543"/>
          </a:xfrm>
        </p:spPr>
        <p:txBody>
          <a:bodyPr>
            <a:normAutofit/>
          </a:bodyPr>
          <a:lstStyle/>
          <a:p>
            <a:r>
              <a:rPr lang="en-US" sz="1800" b="1" spc="-150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BasD" panose="04040705040A02020702" pitchFamily="82" charset="0"/>
              </a:rPr>
              <a:t>Bioclimatic  Suitability  &amp;  Spatial  Profiling</a:t>
            </a:r>
            <a:endParaRPr lang="en-US" sz="1800" dirty="0">
              <a:solidFill>
                <a:schemeClr val="accent1">
                  <a:lumMod val="60000"/>
                  <a:lumOff val="40000"/>
                </a:schemeClr>
              </a:solidFill>
              <a:latin typeface="AlgerianBasD" panose="04040705040A0202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FE2CD8-CB34-A0BF-F5F5-F203CFF9B8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0175" y="5563709"/>
            <a:ext cx="2419331" cy="369332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lgerianBasD" panose="04040705040A02020702" pitchFamily="82" charset="0"/>
              </a:rPr>
              <a:t>Priyanshu Gupta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D5C34E0-A036-3F7E-B1E2-85647AB319C7}"/>
              </a:ext>
            </a:extLst>
          </p:cNvPr>
          <p:cNvCxnSpPr>
            <a:cxnSpLocks/>
          </p:cNvCxnSpPr>
          <p:nvPr/>
        </p:nvCxnSpPr>
        <p:spPr>
          <a:xfrm>
            <a:off x="792453" y="331018"/>
            <a:ext cx="0" cy="6195963"/>
          </a:xfrm>
          <a:prstGeom prst="line">
            <a:avLst/>
          </a:prstGeom>
          <a:ln w="254000" cap="rnd" cmpd="sng">
            <a:solidFill>
              <a:srgbClr val="E32D9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3F7AE33-F4F9-DBBF-76DA-D03F8DC93B02}"/>
              </a:ext>
            </a:extLst>
          </p:cNvPr>
          <p:cNvCxnSpPr>
            <a:cxnSpLocks/>
          </p:cNvCxnSpPr>
          <p:nvPr/>
        </p:nvCxnSpPr>
        <p:spPr>
          <a:xfrm>
            <a:off x="1523999" y="2352675"/>
            <a:ext cx="477202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FC8C3A2-D564-3ACA-34D8-047F9454A3E3}"/>
              </a:ext>
            </a:extLst>
          </p:cNvPr>
          <p:cNvSpPr txBox="1"/>
          <p:nvPr/>
        </p:nvSpPr>
        <p:spPr>
          <a:xfrm>
            <a:off x="1400175" y="739561"/>
            <a:ext cx="51244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BasD" panose="04040705040A02020702" pitchFamily="82" charset="0"/>
              </a:rPr>
              <a:t>Ecological Modeling of </a:t>
            </a:r>
            <a:r>
              <a:rPr lang="en-US" sz="3200" b="1" i="1" spc="-1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BasD" panose="04040705040A02020702" pitchFamily="82" charset="0"/>
              </a:rPr>
              <a:t>Withania somnifera</a:t>
            </a:r>
            <a:endParaRPr lang="en-US" sz="3200" dirty="0">
              <a:latin typeface="AlgerianBasD" panose="04040705040A02020702" pitchFamily="8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3CF6EA-C1E9-4A21-1675-CC0DFB0FC16E}"/>
              </a:ext>
            </a:extLst>
          </p:cNvPr>
          <p:cNvSpPr txBox="1"/>
          <p:nvPr/>
        </p:nvSpPr>
        <p:spPr>
          <a:xfrm>
            <a:off x="1400175" y="2986940"/>
            <a:ext cx="5791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DC7AB0"/>
                </a:solidFill>
                <a:latin typeface="AlgerianBasD" panose="04040705040A02020702" pitchFamily="82" charset="0"/>
              </a:rPr>
              <a:t>A Universal R Pipeline for Precision Agriculture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98ED4E-23AC-5059-8C48-708E1EBD279F}"/>
              </a:ext>
            </a:extLst>
          </p:cNvPr>
          <p:cNvSpPr txBox="1"/>
          <p:nvPr/>
        </p:nvSpPr>
        <p:spPr>
          <a:xfrm>
            <a:off x="1400175" y="5980022"/>
            <a:ext cx="5315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lgerianBasD" panose="04040705040A02020702" pitchFamily="82" charset="0"/>
              </a:rPr>
              <a:t>Department of Botany, DBS (PG) College, </a:t>
            </a:r>
            <a:r>
              <a:rPr lang="en-US" dirty="0" err="1">
                <a:latin typeface="AlgerianBasD" panose="04040705040A02020702" pitchFamily="82" charset="0"/>
              </a:rPr>
              <a:t>D.dun</a:t>
            </a:r>
            <a:r>
              <a:rPr lang="en-US" dirty="0">
                <a:latin typeface="AlgerianBasD" panose="04040705040A02020702" pitchFamily="82" charset="0"/>
              </a:rPr>
              <a:t>,  Uttarakhand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C64520-CEC2-FFF5-283E-261B92B00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461" y="331018"/>
            <a:ext cx="5429692" cy="606977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585784656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4B739-8CE1-75C3-1F51-61E2260F0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3BAB1E7-A326-4AFC-3BB8-C7E7608E3264}"/>
              </a:ext>
            </a:extLst>
          </p:cNvPr>
          <p:cNvCxnSpPr>
            <a:cxnSpLocks/>
          </p:cNvCxnSpPr>
          <p:nvPr/>
        </p:nvCxnSpPr>
        <p:spPr>
          <a:xfrm>
            <a:off x="796414" y="282677"/>
            <a:ext cx="0" cy="6292645"/>
          </a:xfrm>
          <a:prstGeom prst="line">
            <a:avLst/>
          </a:prstGeom>
          <a:ln w="25400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EBB4DB2-C310-2A81-2A7D-51A12ADE7391}"/>
              </a:ext>
            </a:extLst>
          </p:cNvPr>
          <p:cNvCxnSpPr>
            <a:cxnSpLocks/>
          </p:cNvCxnSpPr>
          <p:nvPr/>
        </p:nvCxnSpPr>
        <p:spPr>
          <a:xfrm>
            <a:off x="1130709" y="1671780"/>
            <a:ext cx="101075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99FB757-DEE8-09FD-8B4C-D1D7ED9CC80F}"/>
              </a:ext>
            </a:extLst>
          </p:cNvPr>
          <p:cNvSpPr txBox="1">
            <a:spLocks/>
          </p:cNvSpPr>
          <p:nvPr/>
        </p:nvSpPr>
        <p:spPr>
          <a:xfrm>
            <a:off x="1006782" y="377089"/>
            <a:ext cx="4261259" cy="863804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200" spc="-150" dirty="0">
                <a:solidFill>
                  <a:schemeClr val="accent3"/>
                </a:solidFill>
                <a:latin typeface="AlgerianBasD" panose="04040705040A02020702" pitchFamily="82" charset="0"/>
              </a:rPr>
              <a:t>PROBLEM STATEMENT &amp;  MOTIVATION</a:t>
            </a:r>
            <a:br>
              <a:rPr lang="en-US" spc="-150" dirty="0">
                <a:solidFill>
                  <a:schemeClr val="accent3"/>
                </a:solidFill>
                <a:latin typeface="AlgerianBasD" panose="04040705040A02020702" pitchFamily="82" charset="0"/>
              </a:rPr>
            </a:b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DC7A99A-65EE-5136-FE6F-BEE3227240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597328"/>
              </p:ext>
            </p:extLst>
          </p:nvPr>
        </p:nvGraphicFramePr>
        <p:xfrm>
          <a:off x="1366679" y="2005789"/>
          <a:ext cx="10107561" cy="4149205"/>
        </p:xfrm>
        <a:graphic>
          <a:graphicData uri="http://schemas.openxmlformats.org/drawingml/2006/table">
            <a:tbl>
              <a:tblPr bandRow="1">
                <a:tableStyleId>{5A111915-BE36-4E01-A7E5-04B1672EAD32}</a:tableStyleId>
              </a:tblPr>
              <a:tblGrid>
                <a:gridCol w="3369187">
                  <a:extLst>
                    <a:ext uri="{9D8B030D-6E8A-4147-A177-3AD203B41FA5}">
                      <a16:colId xmlns:a16="http://schemas.microsoft.com/office/drawing/2014/main" val="1989750132"/>
                    </a:ext>
                  </a:extLst>
                </a:gridCol>
                <a:gridCol w="1123062">
                  <a:extLst>
                    <a:ext uri="{9D8B030D-6E8A-4147-A177-3AD203B41FA5}">
                      <a16:colId xmlns:a16="http://schemas.microsoft.com/office/drawing/2014/main" val="1166956258"/>
                    </a:ext>
                  </a:extLst>
                </a:gridCol>
                <a:gridCol w="1123063">
                  <a:extLst>
                    <a:ext uri="{9D8B030D-6E8A-4147-A177-3AD203B41FA5}">
                      <a16:colId xmlns:a16="http://schemas.microsoft.com/office/drawing/2014/main" val="3637455170"/>
                    </a:ext>
                  </a:extLst>
                </a:gridCol>
                <a:gridCol w="1123062">
                  <a:extLst>
                    <a:ext uri="{9D8B030D-6E8A-4147-A177-3AD203B41FA5}">
                      <a16:colId xmlns:a16="http://schemas.microsoft.com/office/drawing/2014/main" val="3394581803"/>
                    </a:ext>
                  </a:extLst>
                </a:gridCol>
                <a:gridCol w="3369187">
                  <a:extLst>
                    <a:ext uri="{9D8B030D-6E8A-4147-A177-3AD203B41FA5}">
                      <a16:colId xmlns:a16="http://schemas.microsoft.com/office/drawing/2014/main" val="1695579234"/>
                    </a:ext>
                  </a:extLst>
                </a:gridCol>
              </a:tblGrid>
              <a:tr h="4149205">
                <a:tc>
                  <a:txBody>
                    <a:bodyPr/>
                    <a:lstStyle/>
                    <a:p>
                      <a:endParaRPr lang="en-US" sz="2000" dirty="0">
                        <a:solidFill>
                          <a:schemeClr val="tx1"/>
                        </a:solidFill>
                        <a:latin typeface="AlgerianBasD" panose="04040705040A02020702" pitchFamily="82" charset="0"/>
                      </a:endParaRPr>
                    </a:p>
                  </a:txBody>
                  <a:tcPr marL="137160" marR="137160" marT="137160" marB="137160" anchor="b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69317888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B635756-E521-1A09-6870-DF1F28F79E50}"/>
              </a:ext>
            </a:extLst>
          </p:cNvPr>
          <p:cNvSpPr txBox="1"/>
          <p:nvPr/>
        </p:nvSpPr>
        <p:spPr>
          <a:xfrm>
            <a:off x="953729" y="810006"/>
            <a:ext cx="1028454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>
                <a:latin typeface="AlgerianBasD" panose="04040705040A02020702" pitchFamily="82" charset="0"/>
              </a:rPr>
              <a:t>The Dual Crisis in Medicinal Plant Conservation</a:t>
            </a:r>
            <a:endParaRPr lang="en-US" sz="3200" dirty="0">
              <a:latin typeface="AlgerianBasD" panose="04040705040A02020702" pitchFamily="82" charset="0"/>
            </a:endParaRP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D16539-912C-28AF-A13A-0AD3C033DCB3}"/>
              </a:ext>
            </a:extLst>
          </p:cNvPr>
          <p:cNvSpPr txBox="1"/>
          <p:nvPr/>
        </p:nvSpPr>
        <p:spPr>
          <a:xfrm>
            <a:off x="1494503" y="2379406"/>
            <a:ext cx="3106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lgerianBasD" panose="04040705040A02020702" pitchFamily="82" charset="0"/>
              </a:rPr>
              <a:t>1. Over-Harvesting🪓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29ECAB-E31B-AD33-B51C-9FFC0A87EEA8}"/>
              </a:ext>
            </a:extLst>
          </p:cNvPr>
          <p:cNvSpPr txBox="1"/>
          <p:nvPr/>
        </p:nvSpPr>
        <p:spPr>
          <a:xfrm>
            <a:off x="4807974" y="2379406"/>
            <a:ext cx="323481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lgerianBasD" panose="04040705040A02020702" pitchFamily="82" charset="0"/>
              </a:rPr>
              <a:t>2. Climate Shift 🌡️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E99CBD-0E68-95D4-D293-847D448EFC90}"/>
              </a:ext>
            </a:extLst>
          </p:cNvPr>
          <p:cNvSpPr txBox="1"/>
          <p:nvPr/>
        </p:nvSpPr>
        <p:spPr>
          <a:xfrm>
            <a:off x="8249265" y="2376394"/>
            <a:ext cx="29005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</a:t>
            </a:r>
            <a:r>
              <a:rPr lang="en-US" sz="2000" dirty="0">
                <a:latin typeface="AlgerianBasD" panose="04040705040A02020702" pitchFamily="82" charset="0"/>
              </a:rPr>
              <a:t>Precision Gap 🗺️</a:t>
            </a:r>
            <a:endParaRPr lang="en-US" dirty="0">
              <a:latin typeface="AlgerianBasD" panose="04040705040A02020702" pitchFamily="8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F7FE07-7A78-92A9-991E-60AF4819F81F}"/>
              </a:ext>
            </a:extLst>
          </p:cNvPr>
          <p:cNvSpPr txBox="1"/>
          <p:nvPr/>
        </p:nvSpPr>
        <p:spPr>
          <a:xfrm>
            <a:off x="1622324" y="4581832"/>
            <a:ext cx="28218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80%+ wild extraction </a:t>
            </a:r>
            <a:r>
              <a:rPr lang="en-US" i="1" dirty="0"/>
              <a:t>leads to genetic depletion</a:t>
            </a:r>
            <a:endParaRPr lang="en-US" dirty="0"/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42AFF7-B5C0-EB31-6B4A-6C3E7849C6B1}"/>
              </a:ext>
            </a:extLst>
          </p:cNvPr>
          <p:cNvSpPr txBox="1"/>
          <p:nvPr/>
        </p:nvSpPr>
        <p:spPr>
          <a:xfrm>
            <a:off x="4916129" y="4581832"/>
            <a:ext cx="28611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Temperature spikes alter active plant yield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A7215C-4F8E-A059-F07A-C10B54F6F522}"/>
              </a:ext>
            </a:extLst>
          </p:cNvPr>
          <p:cNvSpPr txBox="1"/>
          <p:nvPr/>
        </p:nvSpPr>
        <p:spPr>
          <a:xfrm>
            <a:off x="8406580" y="4581832"/>
            <a:ext cx="2989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Lack of spatial mapping for data-driven farming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BBBD640-CEAB-A8AA-79E9-EF1280712952}"/>
              </a:ext>
            </a:extLst>
          </p:cNvPr>
          <p:cNvSpPr/>
          <p:nvPr/>
        </p:nvSpPr>
        <p:spPr>
          <a:xfrm>
            <a:off x="4444182" y="2003883"/>
            <a:ext cx="3598604" cy="4149204"/>
          </a:xfrm>
          <a:prstGeom prst="rect">
            <a:avLst/>
          </a:prstGeom>
          <a:noFill/>
          <a:ln>
            <a:solidFill>
              <a:srgbClr val="7165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noFill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68E9FA-8B63-7B07-925A-3F9A62DA6254}"/>
              </a:ext>
            </a:extLst>
          </p:cNvPr>
          <p:cNvSpPr txBox="1"/>
          <p:nvPr/>
        </p:nvSpPr>
        <p:spPr>
          <a:xfrm>
            <a:off x="5637229" y="2974156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A7FD87-E490-2ECB-42E5-A34ECD710A26}"/>
              </a:ext>
            </a:extLst>
          </p:cNvPr>
          <p:cNvSpPr txBox="1"/>
          <p:nvPr/>
        </p:nvSpPr>
        <p:spPr>
          <a:xfrm>
            <a:off x="1366679" y="6268825"/>
            <a:ext cx="102565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SOLUTION: </a:t>
            </a:r>
            <a:r>
              <a:rPr lang="en-US" i="1" dirty="0"/>
              <a:t>Automated R Macro-Ecological Pipeline for target farming </a:t>
            </a:r>
            <a:endParaRPr lang="en-US" dirty="0"/>
          </a:p>
          <a:p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EDCF7D3-7A1F-1DC0-CA38-98AFC4B27D35}"/>
              </a:ext>
            </a:extLst>
          </p:cNvPr>
          <p:cNvSpPr/>
          <p:nvPr/>
        </p:nvSpPr>
        <p:spPr>
          <a:xfrm>
            <a:off x="1366679" y="6268825"/>
            <a:ext cx="10107560" cy="479012"/>
          </a:xfrm>
          <a:prstGeom prst="rect">
            <a:avLst/>
          </a:prstGeom>
          <a:noFill/>
          <a:ln>
            <a:solidFill>
              <a:srgbClr val="68608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99849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FDE06-54D0-3F0B-E7F0-F7E90AA57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0750D2E-256D-95C6-E51F-318D2594482A}"/>
              </a:ext>
            </a:extLst>
          </p:cNvPr>
          <p:cNvCxnSpPr>
            <a:cxnSpLocks/>
          </p:cNvCxnSpPr>
          <p:nvPr/>
        </p:nvCxnSpPr>
        <p:spPr>
          <a:xfrm>
            <a:off x="796414" y="282677"/>
            <a:ext cx="0" cy="6292645"/>
          </a:xfrm>
          <a:prstGeom prst="line">
            <a:avLst/>
          </a:prstGeom>
          <a:ln w="25400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31D94BD-BF18-E983-64EC-B3F797B37433}"/>
              </a:ext>
            </a:extLst>
          </p:cNvPr>
          <p:cNvCxnSpPr>
            <a:cxnSpLocks/>
          </p:cNvCxnSpPr>
          <p:nvPr/>
        </p:nvCxnSpPr>
        <p:spPr>
          <a:xfrm>
            <a:off x="1061938" y="1814609"/>
            <a:ext cx="10994942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745B5D3-1B73-81D5-75F8-E3F6CFFF9BF4}"/>
              </a:ext>
            </a:extLst>
          </p:cNvPr>
          <p:cNvSpPr txBox="1"/>
          <p:nvPr/>
        </p:nvSpPr>
        <p:spPr>
          <a:xfrm>
            <a:off x="2036189" y="290024"/>
            <a:ext cx="394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AlgerianBasD" panose="04040705040A02020702" pitchFamily="82" charset="0"/>
              </a:rPr>
              <a:t>Computational framework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35908C-064D-D8A2-F489-D271823C879D}"/>
              </a:ext>
            </a:extLst>
          </p:cNvPr>
          <p:cNvSpPr txBox="1"/>
          <p:nvPr/>
        </p:nvSpPr>
        <p:spPr>
          <a:xfrm>
            <a:off x="2036189" y="952107"/>
            <a:ext cx="100206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lgerianBasD" panose="04040705040A02020702" pitchFamily="82" charset="0"/>
              </a:rPr>
              <a:t>Automated R Pipeline &amp; Methodology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9BB6435-B571-5640-35CC-4E1D1A9AFB84}"/>
              </a:ext>
            </a:extLst>
          </p:cNvPr>
          <p:cNvSpPr/>
          <p:nvPr/>
        </p:nvSpPr>
        <p:spPr>
          <a:xfrm>
            <a:off x="1061938" y="2139885"/>
            <a:ext cx="2394407" cy="417607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261BD6E-8D16-7453-4BD7-A190C2BD3027}"/>
              </a:ext>
            </a:extLst>
          </p:cNvPr>
          <p:cNvSpPr/>
          <p:nvPr/>
        </p:nvSpPr>
        <p:spPr>
          <a:xfrm>
            <a:off x="3866959" y="2139885"/>
            <a:ext cx="2394407" cy="417607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329D536-DDA6-DF62-F3C0-9185F2914E56}"/>
              </a:ext>
            </a:extLst>
          </p:cNvPr>
          <p:cNvSpPr/>
          <p:nvPr/>
        </p:nvSpPr>
        <p:spPr>
          <a:xfrm>
            <a:off x="6671980" y="2139885"/>
            <a:ext cx="2394407" cy="417607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2B92840-B4AB-E01B-6860-17F2B91AA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939" y="2761038"/>
            <a:ext cx="2394406" cy="3554921"/>
          </a:xfrm>
          <a:prstGeom prst="rect">
            <a:avLst/>
          </a:prstGeom>
          <a:pattFill prst="wdDnDiag">
            <a:fgClr>
              <a:schemeClr val="bg2">
                <a:tint val="95000"/>
                <a:satMod val="170000"/>
              </a:schemeClr>
            </a:fgClr>
            <a:bgClr>
              <a:schemeClr val="bg1"/>
            </a:bgClr>
          </a:pattFill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6F3435D-2E37-66F3-B1FC-25D3519B6BE4}"/>
              </a:ext>
            </a:extLst>
          </p:cNvPr>
          <p:cNvSpPr/>
          <p:nvPr/>
        </p:nvSpPr>
        <p:spPr>
          <a:xfrm>
            <a:off x="9510075" y="2139885"/>
            <a:ext cx="2394407" cy="417607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31571B-D341-211C-9F0F-B361699463BC}"/>
              </a:ext>
            </a:extLst>
          </p:cNvPr>
          <p:cNvSpPr txBox="1"/>
          <p:nvPr/>
        </p:nvSpPr>
        <p:spPr>
          <a:xfrm>
            <a:off x="1134484" y="2114707"/>
            <a:ext cx="23944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3"/>
                </a:solidFill>
                <a:latin typeface="AlgerianBasD" panose="04040705040A02020702" pitchFamily="82" charset="0"/>
              </a:rPr>
              <a:t>GBIF occurrence extraction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405FF4-B2E4-6C9C-D0F7-A7A22A68263F}"/>
              </a:ext>
            </a:extLst>
          </p:cNvPr>
          <p:cNvSpPr txBox="1"/>
          <p:nvPr/>
        </p:nvSpPr>
        <p:spPr>
          <a:xfrm>
            <a:off x="3850849" y="2139885"/>
            <a:ext cx="23282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3"/>
                </a:solidFill>
                <a:latin typeface="AlgerianBasD" panose="04040705040A02020702" pitchFamily="82" charset="0"/>
              </a:rPr>
              <a:t>Bioclimatic</a:t>
            </a:r>
            <a:r>
              <a:rPr lang="en-US" dirty="0"/>
              <a:t> </a:t>
            </a:r>
            <a:r>
              <a:rPr lang="en-US" dirty="0" err="1">
                <a:solidFill>
                  <a:schemeClr val="accent3"/>
                </a:solidFill>
                <a:latin typeface="AlgerianBasD" panose="04040705040A02020702" pitchFamily="82" charset="0"/>
              </a:rPr>
              <a:t>rasters</a:t>
            </a:r>
            <a:endParaRPr lang="en-US" dirty="0">
              <a:solidFill>
                <a:schemeClr val="accent3"/>
              </a:solidFill>
              <a:latin typeface="AlgerianBasD" panose="04040705040A02020702" pitchFamily="82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3E7DDA5-00A0-0BBF-F283-32852E1A74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969" t="45719" r="50000" b="10930"/>
          <a:stretch>
            <a:fillRect/>
          </a:stretch>
        </p:blipFill>
        <p:spPr>
          <a:xfrm>
            <a:off x="3760336" y="2786215"/>
            <a:ext cx="2585435" cy="367874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B991DB8-3612-A924-4A13-4C4B911459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869" t="44037" r="26368" b="10465"/>
          <a:stretch>
            <a:fillRect/>
          </a:stretch>
        </p:blipFill>
        <p:spPr>
          <a:xfrm>
            <a:off x="6561744" y="2711714"/>
            <a:ext cx="2585434" cy="367874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1D3D471A-33C4-C58F-9BCE-C76F3E07F8B8}"/>
              </a:ext>
            </a:extLst>
          </p:cNvPr>
          <p:cNvSpPr txBox="1"/>
          <p:nvPr/>
        </p:nvSpPr>
        <p:spPr>
          <a:xfrm>
            <a:off x="6995720" y="2139884"/>
            <a:ext cx="18783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3"/>
                </a:solidFill>
                <a:latin typeface="AlgerianBasD" panose="04040705040A02020702" pitchFamily="82" charset="0"/>
              </a:rPr>
              <a:t>Spatial analysis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3EE79B1-203A-5A6C-41AC-2C2188ED991C}"/>
              </a:ext>
            </a:extLst>
          </p:cNvPr>
          <p:cNvSpPr txBox="1"/>
          <p:nvPr/>
        </p:nvSpPr>
        <p:spPr>
          <a:xfrm>
            <a:off x="9728196" y="2114706"/>
            <a:ext cx="1990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3"/>
                </a:solidFill>
                <a:latin typeface="AlgerianBasD" panose="04040705040A02020702" pitchFamily="82" charset="0"/>
              </a:rPr>
              <a:t>Universal applicability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A44CB202-19B3-39CC-54BE-4C76EAB70A8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781" t="45349" r="3809" b="11359"/>
          <a:stretch>
            <a:fillRect/>
          </a:stretch>
        </p:blipFill>
        <p:spPr>
          <a:xfrm>
            <a:off x="9390127" y="2711714"/>
            <a:ext cx="2666753" cy="367874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D0CD62D6-2D4C-96CD-864C-31D5A304D1EF}"/>
              </a:ext>
            </a:extLst>
          </p:cNvPr>
          <p:cNvSpPr/>
          <p:nvPr/>
        </p:nvSpPr>
        <p:spPr>
          <a:xfrm>
            <a:off x="3456345" y="4015409"/>
            <a:ext cx="410614" cy="397562"/>
          </a:xfrm>
          <a:prstGeom prst="rightArrow">
            <a:avLst/>
          </a:prstGeom>
          <a:solidFill>
            <a:srgbClr val="6860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A6C4D0F-CC39-200C-F392-8A837A6C86A6}"/>
              </a:ext>
            </a:extLst>
          </p:cNvPr>
          <p:cNvSpPr/>
          <p:nvPr/>
        </p:nvSpPr>
        <p:spPr>
          <a:xfrm>
            <a:off x="6261366" y="4015409"/>
            <a:ext cx="443688" cy="467139"/>
          </a:xfrm>
          <a:prstGeom prst="rightArrow">
            <a:avLst/>
          </a:prstGeom>
          <a:solidFill>
            <a:srgbClr val="7165A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B5A3E6C8-4B8E-AF98-2E2E-12ECBE8A48E9}"/>
              </a:ext>
            </a:extLst>
          </p:cNvPr>
          <p:cNvSpPr/>
          <p:nvPr/>
        </p:nvSpPr>
        <p:spPr>
          <a:xfrm>
            <a:off x="9066387" y="4124739"/>
            <a:ext cx="443688" cy="467138"/>
          </a:xfrm>
          <a:prstGeom prst="rightArrow">
            <a:avLst/>
          </a:prstGeom>
          <a:solidFill>
            <a:srgbClr val="68608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60014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F483B-0965-968D-F1C0-A0A267255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5797946-22FE-9F64-C1C1-30516CC84F60}"/>
              </a:ext>
            </a:extLst>
          </p:cNvPr>
          <p:cNvCxnSpPr>
            <a:cxnSpLocks/>
          </p:cNvCxnSpPr>
          <p:nvPr/>
        </p:nvCxnSpPr>
        <p:spPr>
          <a:xfrm>
            <a:off x="796414" y="282677"/>
            <a:ext cx="0" cy="6292645"/>
          </a:xfrm>
          <a:prstGeom prst="line">
            <a:avLst/>
          </a:prstGeom>
          <a:ln w="25400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178877D-526E-4F43-FB76-5AE07CFFC3FF}"/>
              </a:ext>
            </a:extLst>
          </p:cNvPr>
          <p:cNvCxnSpPr>
            <a:cxnSpLocks/>
          </p:cNvCxnSpPr>
          <p:nvPr/>
        </p:nvCxnSpPr>
        <p:spPr>
          <a:xfrm>
            <a:off x="957057" y="903141"/>
            <a:ext cx="10441551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3A617ED-6988-AA57-C3CF-3A5B3624F2E9}"/>
              </a:ext>
            </a:extLst>
          </p:cNvPr>
          <p:cNvSpPr txBox="1"/>
          <p:nvPr/>
        </p:nvSpPr>
        <p:spPr>
          <a:xfrm>
            <a:off x="1155428" y="142879"/>
            <a:ext cx="92232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AlgerianBasD" panose="04040705040A02020702" pitchFamily="82" charset="0"/>
              </a:rPr>
              <a:t>Result &amp; bioclimatic drivers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D3222C-3A73-0F62-048A-9B5EF58736C5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ement/>
                    </a14:imgEffect>
                    <a14:imgEffect>
                      <a14:saturation sat="2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426" y="983975"/>
            <a:ext cx="7004816" cy="5834698"/>
          </a:xfrm>
          <a:prstGeom prst="rect">
            <a:avLst/>
          </a:prstGeom>
        </p:spPr>
      </p:pic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79A497D8-E187-3322-3881-E5471A1256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2670300"/>
              </p:ext>
            </p:extLst>
          </p:nvPr>
        </p:nvGraphicFramePr>
        <p:xfrm>
          <a:off x="7354957" y="993154"/>
          <a:ext cx="5393528" cy="56804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78778032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D41E-14AB-9B5F-6C6B-11C4FFEB0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13A71CA-AC6E-B7FA-1BA7-93F22198FD09}"/>
              </a:ext>
            </a:extLst>
          </p:cNvPr>
          <p:cNvCxnSpPr>
            <a:cxnSpLocks/>
          </p:cNvCxnSpPr>
          <p:nvPr/>
        </p:nvCxnSpPr>
        <p:spPr>
          <a:xfrm>
            <a:off x="796414" y="282677"/>
            <a:ext cx="0" cy="6292645"/>
          </a:xfrm>
          <a:prstGeom prst="line">
            <a:avLst/>
          </a:prstGeom>
          <a:ln w="25400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5FBDE02-F448-9E05-4F96-30ADCEE2CF4F}"/>
              </a:ext>
            </a:extLst>
          </p:cNvPr>
          <p:cNvCxnSpPr>
            <a:cxnSpLocks/>
          </p:cNvCxnSpPr>
          <p:nvPr/>
        </p:nvCxnSpPr>
        <p:spPr>
          <a:xfrm>
            <a:off x="1276351" y="1560871"/>
            <a:ext cx="1028300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7311C1A-BD29-932D-CCA1-2986437EBC28}"/>
              </a:ext>
            </a:extLst>
          </p:cNvPr>
          <p:cNvSpPr txBox="1"/>
          <p:nvPr/>
        </p:nvSpPr>
        <p:spPr>
          <a:xfrm>
            <a:off x="1276351" y="504825"/>
            <a:ext cx="105346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AlgerianBasD" panose="04040705040A02020702" pitchFamily="82" charset="0"/>
              </a:rPr>
              <a:t>ECOLOGICAL NICHE &amp; CLIMATE SENSITIVITY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01FDA7B-15C5-F991-0F7B-15022E3137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8686013"/>
              </p:ext>
            </p:extLst>
          </p:nvPr>
        </p:nvGraphicFramePr>
        <p:xfrm>
          <a:off x="1171575" y="1647825"/>
          <a:ext cx="10582275" cy="36904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5425">
                  <a:extLst>
                    <a:ext uri="{9D8B030D-6E8A-4147-A177-3AD203B41FA5}">
                      <a16:colId xmlns:a16="http://schemas.microsoft.com/office/drawing/2014/main" val="2045799936"/>
                    </a:ext>
                  </a:extLst>
                </a:gridCol>
                <a:gridCol w="5276850">
                  <a:extLst>
                    <a:ext uri="{9D8B030D-6E8A-4147-A177-3AD203B41FA5}">
                      <a16:colId xmlns:a16="http://schemas.microsoft.com/office/drawing/2014/main" val="3838645905"/>
                    </a:ext>
                  </a:extLst>
                </a:gridCol>
              </a:tblGrid>
              <a:tr h="3690437"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u="none" dirty="0">
                          <a:solidFill>
                            <a:schemeClr val="accent3"/>
                          </a:solidFill>
                          <a:latin typeface="AlgerianBasD" panose="04040705040A02020702" pitchFamily="82" charset="0"/>
                        </a:rPr>
                        <a:t>1.  </a:t>
                      </a:r>
                      <a:r>
                        <a:rPr lang="en-US" u="sng" dirty="0">
                          <a:solidFill>
                            <a:schemeClr val="accent3"/>
                          </a:solidFill>
                          <a:latin typeface="AlgerianBasD" panose="04040705040A02020702" pitchFamily="82" charset="0"/>
                        </a:rPr>
                        <a:t>THERMAL &amp; HYDROLOGICAL BOUNDS</a:t>
                      </a:r>
                    </a:p>
                    <a:p>
                      <a:pPr marL="457200" lvl="1" indent="0" algn="ctr">
                        <a:buFont typeface="Arial" panose="020B0604020202020204" pitchFamily="34" charset="0"/>
                        <a:buNone/>
                      </a:pPr>
                      <a:endParaRPr lang="en-US" u="sng" dirty="0">
                        <a:solidFill>
                          <a:schemeClr val="accent3"/>
                        </a:solidFill>
                        <a:latin typeface="AlgerianBasD" panose="04040705040A02020702" pitchFamily="82" charset="0"/>
                      </a:endParaRPr>
                    </a:p>
                    <a:p>
                      <a:pPr marL="742950" lvl="1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b="1" u="none" dirty="0">
                          <a:solidFill>
                            <a:schemeClr val="accent1"/>
                          </a:solidFill>
                          <a:latin typeface="AlgerianBasD" panose="04040705040A02020702" pitchFamily="82" charset="0"/>
                        </a:rPr>
                        <a:t>Envelope (Bio1) Temperature:</a:t>
                      </a:r>
                    </a:p>
                    <a:p>
                      <a:pPr marL="742950" lvl="1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b="0" u="none" dirty="0">
                          <a:solidFill>
                            <a:schemeClr val="tx1"/>
                          </a:solidFill>
                          <a:latin typeface="AlgerianBasD" panose="04040705040A02020702" pitchFamily="82" charset="0"/>
                        </a:rPr>
                        <a:t>Optimal suitability peaks tightly at 24–28°C. </a:t>
                      </a:r>
                    </a:p>
                    <a:p>
                      <a:pPr marL="742950" lvl="1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b="0" u="none" dirty="0">
                          <a:solidFill>
                            <a:schemeClr val="tx1"/>
                          </a:solidFill>
                          <a:latin typeface="AlgerianBasD" panose="04040705040A02020702" pitchFamily="82" charset="0"/>
                        </a:rPr>
                        <a:t>Frost and sub-15°C regimes suppress growth.</a:t>
                      </a:r>
                    </a:p>
                    <a:p>
                      <a:pPr marL="742950" lvl="1" indent="-285750" algn="l">
                        <a:buFont typeface="Wingdings" panose="05000000000000000000" pitchFamily="2" charset="2"/>
                        <a:buChar char="q"/>
                      </a:pPr>
                      <a:endParaRPr lang="en-US" u="none" dirty="0">
                        <a:solidFill>
                          <a:schemeClr val="tx1"/>
                        </a:solidFill>
                        <a:latin typeface="AlgerianBasD" panose="04040705040A02020702" pitchFamily="82" charset="0"/>
                      </a:endParaRPr>
                    </a:p>
                    <a:p>
                      <a:pPr marL="742950" lvl="1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u="none" dirty="0">
                          <a:solidFill>
                            <a:schemeClr val="accent1"/>
                          </a:solidFill>
                          <a:latin typeface="AlgerianBasD" panose="04040705040A02020702" pitchFamily="82" charset="0"/>
                        </a:rPr>
                        <a:t>Moisture Constraint (Bio12):</a:t>
                      </a:r>
                    </a:p>
                    <a:p>
                      <a:pPr marL="742950" lvl="1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b="0" u="none" dirty="0">
                          <a:solidFill>
                            <a:schemeClr val="tx1"/>
                          </a:solidFill>
                          <a:latin typeface="AlgerianBasD" panose="04040705040A02020702" pitchFamily="82" charset="0"/>
                        </a:rPr>
                        <a:t>Core niche relies on 600–900 mm annual precipitation.</a:t>
                      </a:r>
                    </a:p>
                    <a:p>
                      <a:pPr marL="742950" lvl="1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b="0" u="none" dirty="0">
                          <a:solidFill>
                            <a:schemeClr val="tx1"/>
                          </a:solidFill>
                          <a:latin typeface="AlgerianBasD" panose="04040705040A02020702" pitchFamily="82" charset="0"/>
                        </a:rPr>
                        <a:t>Excess rainfall induces root rot &amp; disease</a:t>
                      </a:r>
                      <a:r>
                        <a:rPr lang="en-US" u="none" dirty="0">
                          <a:solidFill>
                            <a:schemeClr val="accent1"/>
                          </a:solidFill>
                          <a:latin typeface="AlgerianBasD" panose="04040705040A02020702" pitchFamily="82" charset="0"/>
                        </a:rPr>
                        <a:t>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en-US" sz="1800" dirty="0">
                          <a:solidFill>
                            <a:schemeClr val="accent3"/>
                          </a:solidFill>
                          <a:latin typeface="AlgerianBasD" panose="04040705040A02020702" pitchFamily="82" charset="0"/>
                        </a:rPr>
                        <a:t>2. </a:t>
                      </a:r>
                      <a:r>
                        <a:rPr lang="en-US" sz="1800" i="0" u="sng" dirty="0">
                          <a:solidFill>
                            <a:schemeClr val="accent3"/>
                          </a:solidFill>
                          <a:latin typeface="AlgerianBasD" panose="04040705040A02020702" pitchFamily="82" charset="0"/>
                        </a:rPr>
                        <a:t>GEOGRAPHIC &amp; ELEVATIONAL CONSTRAINTS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800" dirty="0">
                        <a:solidFill>
                          <a:schemeClr val="accent3"/>
                        </a:solidFill>
                        <a:latin typeface="AlgerianBasD" panose="04040705040A02020702" pitchFamily="82" charset="0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solidFill>
                            <a:schemeClr val="accent1"/>
                          </a:solidFill>
                          <a:latin typeface="AlgerianBasD" panose="04040705040A02020702" pitchFamily="82" charset="0"/>
                        </a:rPr>
                        <a:t>High-Altitude Exclusion: 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lgerianBasD" panose="04040705040A02020702" pitchFamily="82" charset="0"/>
                        </a:rPr>
                        <a:t>  Cold stress in Himalayan regions limits Bio6 (Min Temp of Coldest Month).</a:t>
                      </a:r>
                    </a:p>
                    <a:p>
                      <a:pPr marL="285750" indent="-285750" algn="ctr">
                        <a:buFont typeface="Wingdings" panose="05000000000000000000" pitchFamily="2" charset="2"/>
                        <a:buChar char="q"/>
                      </a:pPr>
                      <a:endParaRPr lang="en-US" sz="1800" dirty="0">
                        <a:solidFill>
                          <a:schemeClr val="accent3"/>
                        </a:solidFill>
                        <a:latin typeface="AlgerianBasD" panose="04040705040A02020702" pitchFamily="82" charset="0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solidFill>
                            <a:schemeClr val="accent1"/>
                          </a:solidFill>
                          <a:latin typeface="AlgerianBasD" panose="04040705040A02020702" pitchFamily="82" charset="0"/>
                        </a:rPr>
                        <a:t>High-Precipitation Exclusion:</a:t>
                      </a:r>
                      <a:r>
                        <a:rPr lang="en-US" sz="1800" dirty="0">
                          <a:solidFill>
                            <a:schemeClr val="accent3"/>
                          </a:solidFill>
                          <a:latin typeface="AlgerianBasD" panose="04040705040A02020702" pitchFamily="82" charset="0"/>
                        </a:rPr>
                        <a:t> </a:t>
                      </a: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q"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AlgerianBasD" panose="04040705040A02020702" pitchFamily="82" charset="0"/>
                        </a:rPr>
                        <a:t>Excessive humidity in Western Ghats &amp; East promotes fungal vulnerability and root rot.  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539184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29F4ED0-DC28-6059-50B6-4EBB8C4FF5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485189"/>
              </p:ext>
            </p:extLst>
          </p:nvPr>
        </p:nvGraphicFramePr>
        <p:xfrm>
          <a:off x="6724650" y="4661988"/>
          <a:ext cx="5091881" cy="395788"/>
        </p:xfrm>
        <a:graphic>
          <a:graphicData uri="http://schemas.openxmlformats.org/drawingml/2006/table">
            <a:tbl>
              <a:tblPr/>
              <a:tblGrid>
                <a:gridCol w="5091881">
                  <a:extLst>
                    <a:ext uri="{9D8B030D-6E8A-4147-A177-3AD203B41FA5}">
                      <a16:colId xmlns:a16="http://schemas.microsoft.com/office/drawing/2014/main" val="738277962"/>
                    </a:ext>
                  </a:extLst>
                </a:gridCol>
              </a:tblGrid>
              <a:tr h="395788">
                <a:tc>
                  <a:txBody>
                    <a:bodyPr/>
                    <a:lstStyle/>
                    <a:p>
                      <a:pPr marL="285750" indent="-285750" algn="ctr">
                        <a:buFont typeface="Wingdings" panose="05000000000000000000" pitchFamily="2" charset="2"/>
                        <a:buChar char="Ø"/>
                      </a:pPr>
                      <a:r>
                        <a:rPr lang="en-US" b="1" u="sng" dirty="0">
                          <a:solidFill>
                            <a:schemeClr val="accent3"/>
                          </a:solidFill>
                          <a:latin typeface="AlgerianBasD" panose="04040705040A02020702" pitchFamily="82" charset="0"/>
                        </a:rPr>
                        <a:t>KEY ECOLOGICAL INSIGHT 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32279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956E9A2-53BC-E3F4-0E0A-741C4BD60C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0954919"/>
              </p:ext>
            </p:extLst>
          </p:nvPr>
        </p:nvGraphicFramePr>
        <p:xfrm>
          <a:off x="6719118" y="5105400"/>
          <a:ext cx="5091882" cy="1171575"/>
        </p:xfrm>
        <a:graphic>
          <a:graphicData uri="http://schemas.openxmlformats.org/drawingml/2006/table">
            <a:tbl>
              <a:tblPr/>
              <a:tblGrid>
                <a:gridCol w="5091882">
                  <a:extLst>
                    <a:ext uri="{9D8B030D-6E8A-4147-A177-3AD203B41FA5}">
                      <a16:colId xmlns:a16="http://schemas.microsoft.com/office/drawing/2014/main" val="3024314832"/>
                    </a:ext>
                  </a:extLst>
                </a:gridCol>
              </a:tblGrid>
              <a:tr h="1171575">
                <a:tc>
                  <a:txBody>
                    <a:bodyPr/>
                    <a:lstStyle/>
                    <a:p>
                      <a:pPr algn="ctr"/>
                      <a:r>
                        <a:rPr lang="en-US" i="1" dirty="0">
                          <a:latin typeface="AlgerianBasD" panose="04040705040A02020702" pitchFamily="82" charset="0"/>
                        </a:rPr>
                        <a:t>Withania somnifera </a:t>
                      </a:r>
                      <a:r>
                        <a:rPr lang="en-US" dirty="0">
                          <a:latin typeface="AlgerianBasD" panose="04040705040A02020702" pitchFamily="82" charset="0"/>
                        </a:rPr>
                        <a:t>functions strictly as a xerophilic/semi-arid specialist across India.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7028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95927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2AF65-6753-0259-586F-12E030335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F023EFA-2889-E568-5AB5-13223EBF774F}"/>
              </a:ext>
            </a:extLst>
          </p:cNvPr>
          <p:cNvCxnSpPr>
            <a:cxnSpLocks/>
          </p:cNvCxnSpPr>
          <p:nvPr/>
        </p:nvCxnSpPr>
        <p:spPr>
          <a:xfrm>
            <a:off x="796414" y="282677"/>
            <a:ext cx="0" cy="6292645"/>
          </a:xfrm>
          <a:prstGeom prst="line">
            <a:avLst/>
          </a:prstGeom>
          <a:ln w="25400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52944D3-6585-ADB5-B96A-5001BCB3322A}"/>
              </a:ext>
            </a:extLst>
          </p:cNvPr>
          <p:cNvCxnSpPr>
            <a:cxnSpLocks/>
          </p:cNvCxnSpPr>
          <p:nvPr/>
        </p:nvCxnSpPr>
        <p:spPr>
          <a:xfrm>
            <a:off x="1175569" y="1122721"/>
            <a:ext cx="1054970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438E6A42-7162-BC68-28EF-C0663AD45CCF}"/>
              </a:ext>
            </a:extLst>
          </p:cNvPr>
          <p:cNvSpPr txBox="1"/>
          <p:nvPr/>
        </p:nvSpPr>
        <p:spPr>
          <a:xfrm>
            <a:off x="1175569" y="282677"/>
            <a:ext cx="6457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  <a:latin typeface="AlgerianBasD" panose="04040705040A02020702" pitchFamily="82" charset="0"/>
              </a:rPr>
              <a:t>APPLICATION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7F056E-3D6E-2844-497C-906C8CF7B95F}"/>
              </a:ext>
            </a:extLst>
          </p:cNvPr>
          <p:cNvSpPr txBox="1"/>
          <p:nvPr/>
        </p:nvSpPr>
        <p:spPr>
          <a:xfrm>
            <a:off x="1085849" y="552450"/>
            <a:ext cx="111061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lgerianBasD" panose="04040705040A02020702" pitchFamily="82" charset="0"/>
              </a:rPr>
              <a:t>Agriculture Zoning &amp; Climate Resilience Framework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369C45-E9EF-F179-84B5-F60445413E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503834"/>
              </p:ext>
            </p:extLst>
          </p:nvPr>
        </p:nvGraphicFramePr>
        <p:xfrm>
          <a:off x="1175569" y="1276351"/>
          <a:ext cx="10549706" cy="5451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4853">
                  <a:extLst>
                    <a:ext uri="{9D8B030D-6E8A-4147-A177-3AD203B41FA5}">
                      <a16:colId xmlns:a16="http://schemas.microsoft.com/office/drawing/2014/main" val="2418518787"/>
                    </a:ext>
                  </a:extLst>
                </a:gridCol>
                <a:gridCol w="5274853">
                  <a:extLst>
                    <a:ext uri="{9D8B030D-6E8A-4147-A177-3AD203B41FA5}">
                      <a16:colId xmlns:a16="http://schemas.microsoft.com/office/drawing/2014/main" val="1364502865"/>
                    </a:ext>
                  </a:extLst>
                </a:gridCol>
              </a:tblGrid>
              <a:tr h="5451372"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sz="2000" dirty="0">
                          <a:solidFill>
                            <a:schemeClr val="accent3"/>
                          </a:solidFill>
                          <a:latin typeface="AlgerianBasD" panose="04040705040A02020702" pitchFamily="82" charset="0"/>
                        </a:rPr>
                        <a:t>Commercial Agricultural Zoning</a:t>
                      </a:r>
                    </a:p>
                    <a:p>
                      <a:pPr marL="342900" indent="-342900">
                        <a:buAutoNum type="arabicPeriod"/>
                      </a:pPr>
                      <a:endParaRPr lang="en-US" sz="2000" dirty="0">
                        <a:solidFill>
                          <a:schemeClr val="accent3"/>
                        </a:solidFill>
                        <a:latin typeface="AlgerianBasD" panose="04040705040A02020702" pitchFamily="82" charset="0"/>
                      </a:endParaRPr>
                    </a:p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US" dirty="0">
                          <a:solidFill>
                            <a:schemeClr val="accent1"/>
                          </a:solidFill>
                          <a:latin typeface="AlgerianBasD" panose="04040705040A02020702" pitchFamily="82" charset="0"/>
                        </a:rPr>
                        <a:t>Priority Farming Clusters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latin typeface="AlgerianBasD" panose="04040705040A02020702" pitchFamily="82" charset="0"/>
                        </a:rPr>
                        <a:t>Rajasthan, Madhya Pradesh, Gujarat, &amp; Deccan Plateau</a:t>
                      </a:r>
                      <a:r>
                        <a:rPr lang="en-US" dirty="0"/>
                        <a:t>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latin typeface="AlgerianBasD" panose="04040705040A02020702" pitchFamily="82" charset="0"/>
                        </a:rPr>
                        <a:t> Natural climate alignment reduce artificial irrigation cost.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endParaRPr lang="en-US" b="0" dirty="0">
                        <a:latin typeface="AlgerianBasD" panose="04040705040A02020702" pitchFamily="82" charset="0"/>
                      </a:endParaRPr>
                    </a:p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US" dirty="0">
                          <a:solidFill>
                            <a:schemeClr val="accent1"/>
                          </a:solidFill>
                          <a:latin typeface="AlgerianBasD" panose="04040705040A02020702" pitchFamily="82" charset="0"/>
                        </a:rPr>
                        <a:t>Soil &amp; Drainage Management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latin typeface="AlgerianBasD" panose="04040705040A02020702" pitchFamily="82" charset="0"/>
                        </a:rPr>
                        <a:t>Select sandy loam to well-drained light red soil.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0" dirty="0">
                          <a:latin typeface="AlgerianBasD" panose="04040705040A02020702" pitchFamily="82" charset="0"/>
                        </a:rPr>
                        <a:t>Avoid low-lying clay soils to mitigate root decay risks.</a:t>
                      </a:r>
                    </a:p>
                    <a:p>
                      <a:pPr marL="342900" indent="-342900">
                        <a:buAutoNum type="arabicPeriod"/>
                      </a:pPr>
                      <a:endParaRPr lang="en-US" dirty="0"/>
                    </a:p>
                    <a:p>
                      <a:pPr marL="342900" indent="-342900">
                        <a:buFont typeface="Wingdings" panose="05000000000000000000" pitchFamily="2" charset="2"/>
                        <a:buChar char="q"/>
                      </a:pPr>
                      <a:r>
                        <a:rPr lang="en-US" dirty="0">
                          <a:solidFill>
                            <a:schemeClr val="accent1"/>
                          </a:solidFill>
                          <a:latin typeface="AlgerianBasD" panose="04040705040A02020702" pitchFamily="82" charset="0"/>
                        </a:rPr>
                        <a:t>Harvest Timing Optimization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latin typeface="AlgerianBasD" panose="04040705040A02020702" pitchFamily="82" charset="0"/>
                        </a:rPr>
                        <a:t>Time root harvesting following post-monsoon drying to maximize active </a:t>
                      </a:r>
                      <a:r>
                        <a:rPr lang="en-US" b="0" dirty="0" err="1">
                          <a:latin typeface="AlgerianBasD" panose="04040705040A02020702" pitchFamily="82" charset="0"/>
                        </a:rPr>
                        <a:t>withanolide</a:t>
                      </a:r>
                      <a:r>
                        <a:rPr lang="en-US" b="0" dirty="0">
                          <a:latin typeface="AlgerianBasD" panose="04040705040A02020702" pitchFamily="82" charset="0"/>
                        </a:rPr>
                        <a:t> concentration.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solidFill>
                            <a:schemeClr val="accent3"/>
                          </a:solidFill>
                          <a:latin typeface="AlgerianBasD" panose="04040705040A02020702" pitchFamily="82" charset="0"/>
                        </a:rPr>
                        <a:t>2. Conservation &amp; Climate Vulnerability</a:t>
                      </a:r>
                    </a:p>
                    <a:p>
                      <a:endParaRPr lang="en-US" sz="1800" dirty="0">
                        <a:solidFill>
                          <a:schemeClr val="accent3"/>
                        </a:solidFill>
                        <a:latin typeface="AlgerianBasD" panose="04040705040A02020702" pitchFamily="82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dirty="0">
                          <a:solidFill>
                            <a:schemeClr val="accent1"/>
                          </a:solidFill>
                          <a:latin typeface="AlgerianBasD" panose="04040705040A02020702" pitchFamily="82" charset="0"/>
                        </a:rPr>
                        <a:t>Wild Germplasm Protection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latin typeface="AlgerianBasD" panose="04040705040A02020702" pitchFamily="82" charset="0"/>
                        </a:rPr>
                        <a:t>In-situ conservation required in marginal ecotones.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latin typeface="AlgerianBasD" panose="04040705040A02020702" pitchFamily="82" charset="0"/>
                        </a:rPr>
                        <a:t>Prevent over-exploitation of high-quality wild stocks.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b="0" dirty="0">
                        <a:latin typeface="AlgerianBasD" panose="04040705040A02020702" pitchFamily="82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dirty="0">
                          <a:solidFill>
                            <a:schemeClr val="accent1"/>
                          </a:solidFill>
                          <a:latin typeface="AlgerianBasD" panose="04040705040A02020702" pitchFamily="82" charset="0"/>
                        </a:rPr>
                        <a:t>Shift Under Warming Scenarios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>
                          <a:latin typeface="AlgerianBasD" panose="04040705040A02020702" pitchFamily="82" charset="0"/>
                        </a:rPr>
                        <a:t>Rising temperatures may push suitable niches northward into transitional climatic zones.</a:t>
                      </a:r>
                    </a:p>
                    <a:p>
                      <a:pPr marL="0" indent="0">
                        <a:buFontTx/>
                        <a:buNone/>
                      </a:pPr>
                      <a:endParaRPr lang="en-US" dirty="0"/>
                    </a:p>
                    <a:p>
                      <a:pPr marL="0" indent="0">
                        <a:buFontTx/>
                        <a:buNone/>
                      </a:pPr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159688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19F8D4B-4629-4CD4-4992-1309A58F31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412973"/>
              </p:ext>
            </p:extLst>
          </p:nvPr>
        </p:nvGraphicFramePr>
        <p:xfrm>
          <a:off x="6618032" y="4726264"/>
          <a:ext cx="4947162" cy="67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47162">
                  <a:extLst>
                    <a:ext uri="{9D8B030D-6E8A-4147-A177-3AD203B41FA5}">
                      <a16:colId xmlns:a16="http://schemas.microsoft.com/office/drawing/2014/main" val="3031593541"/>
                    </a:ext>
                  </a:extLst>
                </a:gridCol>
              </a:tblGrid>
              <a:tr h="341036">
                <a:tc>
                  <a:txBody>
                    <a:bodyPr/>
                    <a:lstStyle/>
                    <a:p>
                      <a:pPr marL="285750" marR="0" lvl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sz="2000" b="1" u="sng" dirty="0" err="1">
                          <a:solidFill>
                            <a:srgbClr val="FFFF00"/>
                          </a:solidFill>
                          <a:effectLst/>
                          <a:latin typeface="AlgerianBasD" panose="04040705040A02020702" pitchFamily="82" charset="0"/>
                        </a:rPr>
                        <a:t>STRATeGIC</a:t>
                      </a:r>
                      <a:r>
                        <a:rPr lang="en-US" sz="2000" b="1" u="sng" dirty="0">
                          <a:solidFill>
                            <a:srgbClr val="FFFF00"/>
                          </a:solidFill>
                          <a:effectLst/>
                          <a:latin typeface="AlgerianBasD" panose="04040705040A02020702" pitchFamily="82" charset="0"/>
                        </a:rPr>
                        <a:t> IMPACT</a:t>
                      </a:r>
                    </a:p>
                    <a:p>
                      <a:endParaRPr lang="en-US" dirty="0"/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013999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CC0E9AA-9177-2FDC-131B-C9DB81675E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32628"/>
              </p:ext>
            </p:extLst>
          </p:nvPr>
        </p:nvGraphicFramePr>
        <p:xfrm>
          <a:off x="6618032" y="5434329"/>
          <a:ext cx="4947162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7162">
                  <a:extLst>
                    <a:ext uri="{9D8B030D-6E8A-4147-A177-3AD203B41FA5}">
                      <a16:colId xmlns:a16="http://schemas.microsoft.com/office/drawing/2014/main" val="1872115755"/>
                    </a:ext>
                  </a:extLst>
                </a:gridCol>
              </a:tblGrid>
              <a:tr h="1109346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AlgerianBasD" panose="04040705040A02020702" pitchFamily="82" charset="0"/>
                        </a:rPr>
                        <a:t>Guides site selection for commercial cultivation while SAFEGUARDING GENETIC BIODIVERSITY AGAINST CLIMATIC SHIFT.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3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137624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39328-FDB1-0F9B-3A88-ADAD5024D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5C03D3C-6598-9FB1-6B97-5D42DD5650C6}"/>
              </a:ext>
            </a:extLst>
          </p:cNvPr>
          <p:cNvCxnSpPr>
            <a:cxnSpLocks/>
          </p:cNvCxnSpPr>
          <p:nvPr/>
        </p:nvCxnSpPr>
        <p:spPr>
          <a:xfrm>
            <a:off x="796414" y="282677"/>
            <a:ext cx="0" cy="6292645"/>
          </a:xfrm>
          <a:prstGeom prst="line">
            <a:avLst/>
          </a:prstGeom>
          <a:ln w="25400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438528A-3896-75EE-9AD6-944682CE9BD0}"/>
              </a:ext>
            </a:extLst>
          </p:cNvPr>
          <p:cNvCxnSpPr/>
          <p:nvPr/>
        </p:nvCxnSpPr>
        <p:spPr>
          <a:xfrm>
            <a:off x="1427829" y="1036996"/>
            <a:ext cx="820010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C032126-BCBC-18F5-DDDC-FA1EFCB64BEF}"/>
              </a:ext>
            </a:extLst>
          </p:cNvPr>
          <p:cNvSpPr txBox="1"/>
          <p:nvPr/>
        </p:nvSpPr>
        <p:spPr>
          <a:xfrm>
            <a:off x="1332579" y="82652"/>
            <a:ext cx="10795819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AlgerianBasD" panose="04040705040A02020702" pitchFamily="82" charset="0"/>
              </a:rPr>
              <a:t>Key Takeaways &amp; Outlook</a:t>
            </a:r>
          </a:p>
          <a:p>
            <a:endParaRPr lang="en-US" dirty="0"/>
          </a:p>
        </p:txBody>
      </p:sp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FEE7F601-7340-F786-6F11-85AD25189250}"/>
              </a:ext>
            </a:extLst>
          </p:cNvPr>
          <p:cNvSpPr/>
          <p:nvPr/>
        </p:nvSpPr>
        <p:spPr>
          <a:xfrm>
            <a:off x="1304004" y="1504950"/>
            <a:ext cx="3363245" cy="4810125"/>
          </a:xfrm>
          <a:prstGeom prst="round2Diag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791A0B0-9004-3BD0-18D8-EBA7F6F83EA9}"/>
              </a:ext>
            </a:extLst>
          </p:cNvPr>
          <p:cNvSpPr/>
          <p:nvPr/>
        </p:nvSpPr>
        <p:spPr>
          <a:xfrm>
            <a:off x="2638425" y="1276350"/>
            <a:ext cx="904867" cy="8953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21EDC18-31D5-EF78-9CC8-3BA7F6CEAC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374568" y="1129092"/>
            <a:ext cx="1526400" cy="128710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C0B0F2FB-355E-A872-3048-9C1047A8C3AC}"/>
              </a:ext>
            </a:extLst>
          </p:cNvPr>
          <p:cNvSpPr/>
          <p:nvPr/>
        </p:nvSpPr>
        <p:spPr>
          <a:xfrm>
            <a:off x="5079588" y="1504950"/>
            <a:ext cx="3359555" cy="4810125"/>
          </a:xfrm>
          <a:prstGeom prst="round2Diag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Diagonal Corners Rounded 12">
            <a:extLst>
              <a:ext uri="{FF2B5EF4-FFF2-40B4-BE49-F238E27FC236}">
                <a16:creationId xmlns:a16="http://schemas.microsoft.com/office/drawing/2014/main" id="{F6CD5341-3AE6-781E-874A-2054B0938F63}"/>
              </a:ext>
            </a:extLst>
          </p:cNvPr>
          <p:cNvSpPr/>
          <p:nvPr/>
        </p:nvSpPr>
        <p:spPr>
          <a:xfrm>
            <a:off x="8782050" y="1504950"/>
            <a:ext cx="3346348" cy="4810125"/>
          </a:xfrm>
          <a:prstGeom prst="round2Diag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3628B12-E7C2-F069-E66F-3167E38F28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148108" y="1129091"/>
            <a:ext cx="1545490" cy="128710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05E5CD2-F8CE-4E25-5347-88C921E175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0036647" y="766523"/>
            <a:ext cx="1645547" cy="16496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lowchart: Process 17">
            <a:extLst>
              <a:ext uri="{FF2B5EF4-FFF2-40B4-BE49-F238E27FC236}">
                <a16:creationId xmlns:a16="http://schemas.microsoft.com/office/drawing/2014/main" id="{FA06036B-B88E-5D43-A22A-67B29B99A3FF}"/>
              </a:ext>
            </a:extLst>
          </p:cNvPr>
          <p:cNvSpPr/>
          <p:nvPr/>
        </p:nvSpPr>
        <p:spPr>
          <a:xfrm>
            <a:off x="1599738" y="2508289"/>
            <a:ext cx="2771775" cy="704850"/>
          </a:xfrm>
          <a:prstGeom prst="flowChartProcess">
            <a:avLst/>
          </a:prstGeom>
          <a:gradFill>
            <a:gsLst>
              <a:gs pos="0">
                <a:srgbClr val="82EBFF"/>
              </a:gs>
              <a:gs pos="100000">
                <a:srgbClr val="595967"/>
              </a:gs>
              <a:gs pos="26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1"/>
                </a:solidFill>
                <a:latin typeface="AlgerianBasD" panose="04040705040A02020702" pitchFamily="82" charset="0"/>
              </a:rPr>
              <a:t>CONCLUSION</a:t>
            </a:r>
          </a:p>
        </p:txBody>
      </p:sp>
      <p:sp>
        <p:nvSpPr>
          <p:cNvPr id="19" name="Flowchart: Process 18">
            <a:extLst>
              <a:ext uri="{FF2B5EF4-FFF2-40B4-BE49-F238E27FC236}">
                <a16:creationId xmlns:a16="http://schemas.microsoft.com/office/drawing/2014/main" id="{4C07A95D-B445-B06B-458D-0BADB7F0D75B}"/>
              </a:ext>
            </a:extLst>
          </p:cNvPr>
          <p:cNvSpPr/>
          <p:nvPr/>
        </p:nvSpPr>
        <p:spPr>
          <a:xfrm>
            <a:off x="5286375" y="2508289"/>
            <a:ext cx="2990850" cy="704850"/>
          </a:xfrm>
          <a:prstGeom prst="flowChartProcess">
            <a:avLst/>
          </a:prstGeom>
          <a:gradFill>
            <a:gsLst>
              <a:gs pos="40000">
                <a:schemeClr val="accent1">
                  <a:lumMod val="20000"/>
                  <a:lumOff val="80000"/>
                </a:schemeClr>
              </a:gs>
              <a:gs pos="0">
                <a:srgbClr val="82EBFF"/>
              </a:gs>
              <a:gs pos="100000">
                <a:schemeClr val="tx2">
                  <a:lumMod val="10000"/>
                </a:schemeClr>
              </a:gs>
            </a:gsLst>
            <a:lin ang="5400000" scaled="1"/>
          </a:gradFill>
          <a:ln>
            <a:solidFill>
              <a:schemeClr val="accent1">
                <a:shade val="15000"/>
                <a:alpha val="9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accent1"/>
                </a:solidFill>
                <a:latin typeface="AlgerianBasD" panose="04040705040A02020702" pitchFamily="82" charset="0"/>
              </a:rPr>
              <a:t>LIMITATION</a:t>
            </a:r>
          </a:p>
        </p:txBody>
      </p:sp>
      <p:sp>
        <p:nvSpPr>
          <p:cNvPr id="20" name="Flowchart: Process 19">
            <a:extLst>
              <a:ext uri="{FF2B5EF4-FFF2-40B4-BE49-F238E27FC236}">
                <a16:creationId xmlns:a16="http://schemas.microsoft.com/office/drawing/2014/main" id="{5DDAB7F2-CFBA-0710-1AA5-0B652F00F577}"/>
              </a:ext>
            </a:extLst>
          </p:cNvPr>
          <p:cNvSpPr/>
          <p:nvPr/>
        </p:nvSpPr>
        <p:spPr>
          <a:xfrm>
            <a:off x="9039225" y="2508289"/>
            <a:ext cx="2886075" cy="704850"/>
          </a:xfrm>
          <a:prstGeom prst="flowChartProcess">
            <a:avLst/>
          </a:prstGeom>
          <a:gradFill>
            <a:gsLst>
              <a:gs pos="1000">
                <a:srgbClr val="ACE4FF"/>
              </a:gs>
              <a:gs pos="87000">
                <a:srgbClr val="595967"/>
              </a:gs>
              <a:gs pos="100000">
                <a:srgbClr val="A67D9B"/>
              </a:gs>
              <a:gs pos="50000">
                <a:schemeClr val="accent1">
                  <a:lumMod val="47000"/>
                  <a:lumOff val="53000"/>
                  <a:alpha val="98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cap="sq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1"/>
                </a:solidFill>
                <a:latin typeface="AlgerianBasD" panose="04040705040A02020702" pitchFamily="82" charset="0"/>
              </a:rPr>
              <a:t>FUTURE</a:t>
            </a:r>
            <a:r>
              <a:rPr lang="en-US" sz="3200" b="1" dirty="0">
                <a:solidFill>
                  <a:schemeClr val="accent1"/>
                </a:solidFill>
                <a:latin typeface="AlgerianBasD" panose="04040705040A02020702" pitchFamily="82" charset="0"/>
              </a:rPr>
              <a:t> WORK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5B7664-980E-20DC-D94D-627DA5CB554F}"/>
              </a:ext>
            </a:extLst>
          </p:cNvPr>
          <p:cNvSpPr txBox="1"/>
          <p:nvPr/>
        </p:nvSpPr>
        <p:spPr>
          <a:xfrm>
            <a:off x="9010420" y="3429000"/>
            <a:ext cx="2943684" cy="266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578E2B-FBCB-141C-6BDA-7658E57F042C}"/>
              </a:ext>
            </a:extLst>
          </p:cNvPr>
          <p:cNvSpPr txBox="1"/>
          <p:nvPr/>
        </p:nvSpPr>
        <p:spPr>
          <a:xfrm>
            <a:off x="5333541" y="3429000"/>
            <a:ext cx="2943684" cy="266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4D495EE7-4833-342A-D17E-CC5F56CB3F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7886283"/>
              </p:ext>
            </p:extLst>
          </p:nvPr>
        </p:nvGraphicFramePr>
        <p:xfrm>
          <a:off x="5444614" y="3299159"/>
          <a:ext cx="2571748" cy="2588756"/>
        </p:xfrm>
        <a:graphic>
          <a:graphicData uri="http://schemas.openxmlformats.org/drawingml/2006/table">
            <a:tbl>
              <a:tblPr/>
              <a:tblGrid>
                <a:gridCol w="2571748">
                  <a:extLst>
                    <a:ext uri="{9D8B030D-6E8A-4147-A177-3AD203B41FA5}">
                      <a16:colId xmlns:a16="http://schemas.microsoft.com/office/drawing/2014/main" val="2753917681"/>
                    </a:ext>
                  </a:extLst>
                </a:gridCol>
              </a:tblGrid>
              <a:tr h="2588756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dirty="0">
                          <a:latin typeface="AlgerianBasD" panose="04040705040A02020702" pitchFamily="82" charset="0"/>
                        </a:rPr>
                        <a:t>2. Climate Models Omit Local Soil &amp; Waterlogging Risks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698257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C48C4E19-4780-D09E-7645-49DA0D6CDC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163169"/>
              </p:ext>
            </p:extLst>
          </p:nvPr>
        </p:nvGraphicFramePr>
        <p:xfrm>
          <a:off x="8950886" y="3027963"/>
          <a:ext cx="3062752" cy="2785221"/>
        </p:xfrm>
        <a:graphic>
          <a:graphicData uri="http://schemas.openxmlformats.org/drawingml/2006/table">
            <a:tbl>
              <a:tblPr/>
              <a:tblGrid>
                <a:gridCol w="3062752">
                  <a:extLst>
                    <a:ext uri="{9D8B030D-6E8A-4147-A177-3AD203B41FA5}">
                      <a16:colId xmlns:a16="http://schemas.microsoft.com/office/drawing/2014/main" val="2222700491"/>
                    </a:ext>
                  </a:extLst>
                </a:gridCol>
              </a:tblGrid>
              <a:tr h="2785221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b="0" dirty="0">
                          <a:latin typeface="AlgerianBasD" panose="04040705040A02020702" pitchFamily="82" charset="0"/>
                        </a:rPr>
                        <a:t>3. Integrate </a:t>
                      </a:r>
                      <a:r>
                        <a:rPr lang="en-US" sz="2400" b="0" dirty="0" err="1">
                          <a:latin typeface="AlgerianBasD" panose="04040705040A02020702" pitchFamily="82" charset="0"/>
                        </a:rPr>
                        <a:t>SoilGrids</a:t>
                      </a:r>
                      <a:r>
                        <a:rPr lang="en-US" sz="2400" b="0" dirty="0">
                          <a:latin typeface="AlgerianBasD" panose="04040705040A02020702" pitchFamily="82" charset="0"/>
                        </a:rPr>
                        <a:t> &amp; Conduct Field Ground-Truthing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1400738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8079CC56-59F2-0E95-3057-56C71C5D2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829336"/>
              </p:ext>
            </p:extLst>
          </p:nvPr>
        </p:nvGraphicFramePr>
        <p:xfrm>
          <a:off x="1561639" y="3468123"/>
          <a:ext cx="2809874" cy="2588755"/>
        </p:xfrm>
        <a:graphic>
          <a:graphicData uri="http://schemas.openxmlformats.org/drawingml/2006/table">
            <a:tbl>
              <a:tblPr/>
              <a:tblGrid>
                <a:gridCol w="2809874">
                  <a:extLst>
                    <a:ext uri="{9D8B030D-6E8A-4147-A177-3AD203B41FA5}">
                      <a16:colId xmlns:a16="http://schemas.microsoft.com/office/drawing/2014/main" val="552420142"/>
                    </a:ext>
                  </a:extLst>
                </a:gridCol>
              </a:tblGrid>
              <a:tr h="2588755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sz="2400" dirty="0">
                          <a:latin typeface="AlgerianBasD" panose="04040705040A02020702" pitchFamily="82" charset="0"/>
                        </a:rPr>
                        <a:t>1. Universal framework: modeling species, conservation &amp; agriculture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768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7146745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0813E88-E59F-ABD5-8C32-2D94B79A4530}"/>
              </a:ext>
            </a:extLst>
          </p:cNvPr>
          <p:cNvCxnSpPr>
            <a:cxnSpLocks/>
          </p:cNvCxnSpPr>
          <p:nvPr/>
        </p:nvCxnSpPr>
        <p:spPr>
          <a:xfrm>
            <a:off x="796414" y="282677"/>
            <a:ext cx="0" cy="6292645"/>
          </a:xfrm>
          <a:prstGeom prst="line">
            <a:avLst/>
          </a:prstGeom>
          <a:ln w="254000" cap="rnd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20806CF-19AE-124F-5AC7-FBB307862F0E}"/>
              </a:ext>
            </a:extLst>
          </p:cNvPr>
          <p:cNvCxnSpPr>
            <a:cxnSpLocks/>
          </p:cNvCxnSpPr>
          <p:nvPr/>
        </p:nvCxnSpPr>
        <p:spPr>
          <a:xfrm>
            <a:off x="1508944" y="1303696"/>
            <a:ext cx="10483031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EBE00DC-92ED-96D2-4131-49CD07780217}"/>
              </a:ext>
            </a:extLst>
          </p:cNvPr>
          <p:cNvSpPr txBox="1"/>
          <p:nvPr/>
        </p:nvSpPr>
        <p:spPr>
          <a:xfrm>
            <a:off x="1419224" y="371475"/>
            <a:ext cx="75533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accent3"/>
                </a:solidFill>
                <a:latin typeface="AlgerianBasD" panose="04040705040A02020702" pitchFamily="82" charset="0"/>
              </a:rPr>
              <a:t>Acknowledgements </a:t>
            </a:r>
            <a:endParaRPr lang="en-US" dirty="0">
              <a:solidFill>
                <a:schemeClr val="accent3"/>
              </a:solidFill>
              <a:latin typeface="AlgerianBasD" panose="04040705040A02020702" pitchFamily="82" charset="0"/>
            </a:endParaRPr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171E2D19-4C16-E9C8-B4FA-7322B3307731}"/>
              </a:ext>
            </a:extLst>
          </p:cNvPr>
          <p:cNvSpPr/>
          <p:nvPr/>
        </p:nvSpPr>
        <p:spPr>
          <a:xfrm>
            <a:off x="1508944" y="1624012"/>
            <a:ext cx="4067175" cy="4862513"/>
          </a:xfrm>
          <a:prstGeom prst="round2Diag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181050EA-7A88-F964-7088-C9CBCF654E9D}"/>
              </a:ext>
            </a:extLst>
          </p:cNvPr>
          <p:cNvSpPr/>
          <p:nvPr/>
        </p:nvSpPr>
        <p:spPr>
          <a:xfrm>
            <a:off x="7328411" y="1504950"/>
            <a:ext cx="4067176" cy="4981574"/>
          </a:xfrm>
          <a:prstGeom prst="round2Diag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73C58D-889C-B8E9-3834-680526033399}"/>
              </a:ext>
            </a:extLst>
          </p:cNvPr>
          <p:cNvSpPr txBox="1"/>
          <p:nvPr/>
        </p:nvSpPr>
        <p:spPr>
          <a:xfrm>
            <a:off x="1638300" y="2066925"/>
            <a:ext cx="39378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lgerianBasD" panose="04040705040A02020702" pitchFamily="82" charset="0"/>
              </a:rPr>
              <a:t>BOTANY DEPARTMENT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27FFE9-FE63-C0E6-271D-69010E3B563E}"/>
              </a:ext>
            </a:extLst>
          </p:cNvPr>
          <p:cNvSpPr txBox="1"/>
          <p:nvPr/>
        </p:nvSpPr>
        <p:spPr>
          <a:xfrm>
            <a:off x="1638300" y="3133725"/>
            <a:ext cx="3937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AlgerianBasD" panose="04040705040A02020702" pitchFamily="82" charset="0"/>
              </a:rPr>
              <a:t>GRATITUDE TO OUR TEACHERS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141DA9-FABA-AD91-30FC-A4D26650AD9E}"/>
              </a:ext>
            </a:extLst>
          </p:cNvPr>
          <p:cNvSpPr txBox="1"/>
          <p:nvPr/>
        </p:nvSpPr>
        <p:spPr>
          <a:xfrm>
            <a:off x="1857375" y="3971925"/>
            <a:ext cx="33718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gency FB" panose="020B0503020202020204" pitchFamily="34" charset="0"/>
              </a:rPr>
              <a:t>I would like to express my sincere gratitude to the faculty and mentors of the </a:t>
            </a:r>
            <a:r>
              <a:rPr lang="en-US" b="1" dirty="0">
                <a:latin typeface="Agency FB" panose="020B0503020202020204" pitchFamily="34" charset="0"/>
              </a:rPr>
              <a:t>Department of Botany</a:t>
            </a:r>
            <a:r>
              <a:rPr lang="en-US" dirty="0">
                <a:latin typeface="Agency FB" panose="020B0503020202020204" pitchFamily="34" charset="0"/>
              </a:rPr>
              <a:t> for their invaluable guidance, academic support, and insights throughout this study on </a:t>
            </a:r>
            <a:r>
              <a:rPr lang="en-US" i="1" dirty="0">
                <a:latin typeface="Agency FB" panose="020B0503020202020204" pitchFamily="34" charset="0"/>
              </a:rPr>
              <a:t>Withania somnifera</a:t>
            </a:r>
            <a:r>
              <a:rPr lang="en-US" dirty="0">
                <a:latin typeface="Agency FB" panose="020B0503020202020204" pitchFamily="34" charset="0"/>
              </a:rPr>
              <a:t>. 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AEEEE7-4D86-332A-6AA3-1C5ADCC02A05}"/>
              </a:ext>
            </a:extLst>
          </p:cNvPr>
          <p:cNvSpPr txBox="1"/>
          <p:nvPr/>
        </p:nvSpPr>
        <p:spPr>
          <a:xfrm>
            <a:off x="7696200" y="2009775"/>
            <a:ext cx="34766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AlgerianBasD" panose="04040705040A02020702" pitchFamily="82" charset="0"/>
              </a:rPr>
              <a:t>THANK YOU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954DBF-7E7A-4FB9-B936-CC715116A910}"/>
              </a:ext>
            </a:extLst>
          </p:cNvPr>
          <p:cNvSpPr txBox="1"/>
          <p:nvPr/>
        </p:nvSpPr>
        <p:spPr>
          <a:xfrm>
            <a:off x="7791450" y="3503057"/>
            <a:ext cx="3133725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gency FB" panose="020B0503020202020204" pitchFamily="34" charset="0"/>
              </a:rPr>
              <a:t>Thank you to everyone in attendance for your time, attention, and valuable feedback.</a:t>
            </a:r>
          </a:p>
          <a:p>
            <a:endParaRPr lang="en-US" dirty="0">
              <a:latin typeface="Agency FB" panose="020B0503020202020204" pitchFamily="34" charset="0"/>
            </a:endParaRPr>
          </a:p>
          <a:p>
            <a:endParaRPr lang="en-US" dirty="0">
              <a:latin typeface="Agency FB" panose="020B0503020202020204" pitchFamily="34" charset="0"/>
            </a:endParaRPr>
          </a:p>
          <a:p>
            <a:endParaRPr lang="en-US" dirty="0">
              <a:latin typeface="Agency FB" panose="020B0503020202020204" pitchFamily="34" charset="0"/>
            </a:endParaRPr>
          </a:p>
          <a:p>
            <a:pPr algn="ctr"/>
            <a:r>
              <a:rPr lang="en-US" sz="2000" dirty="0"/>
              <a:t> </a:t>
            </a:r>
            <a:r>
              <a:rPr lang="en-US" sz="2000" b="1" dirty="0">
                <a:solidFill>
                  <a:schemeClr val="accent1"/>
                </a:solidFill>
                <a:latin typeface="Aptos Narrow" panose="020B0004020202020204" pitchFamily="34" charset="0"/>
              </a:rPr>
              <a:t>Questions and discussion are welcome!</a:t>
            </a:r>
            <a:endParaRPr lang="en-US" sz="2000" dirty="0">
              <a:solidFill>
                <a:schemeClr val="accent1"/>
              </a:solidFill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76492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3741</TotalTime>
  <Words>458</Words>
  <Application>Microsoft Office PowerPoint</Application>
  <PresentationFormat>Widescreen</PresentationFormat>
  <Paragraphs>83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Agency FB</vt:lpstr>
      <vt:lpstr>AlgerianBasD</vt:lpstr>
      <vt:lpstr>Aptos Narrow</vt:lpstr>
      <vt:lpstr>Arial</vt:lpstr>
      <vt:lpstr>Calibri</vt:lpstr>
      <vt:lpstr>Calibri Light</vt:lpstr>
      <vt:lpstr>Wingdings</vt:lpstr>
      <vt:lpstr>Office Theme</vt:lpstr>
      <vt:lpstr>Bioclimatic  Suitability  &amp;  Spatial  Profiling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rahul gupta</dc:creator>
  <cp:lastModifiedBy>rahul gupta</cp:lastModifiedBy>
  <cp:revision>7</cp:revision>
  <dcterms:created xsi:type="dcterms:W3CDTF">2026-09-09T17:13:08Z</dcterms:created>
  <dcterms:modified xsi:type="dcterms:W3CDTF">2026-09-17T06:12:37Z</dcterms:modified>
</cp:coreProperties>
</file>